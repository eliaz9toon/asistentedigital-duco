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e2mk9BVVHBhIIc67mH8dOglaq3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1.png"/><Relationship Id="rId8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Relationship Id="rId6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18.png"/><Relationship Id="rId5" Type="http://schemas.openxmlformats.org/officeDocument/2006/relationships/image" Target="../media/image26.png"/><Relationship Id="rId6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692640" y="502920"/>
            <a:ext cx="54864" cy="54864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9692640" y="795528"/>
            <a:ext cx="54864" cy="54864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9692640" y="1088136"/>
            <a:ext cx="54864" cy="54864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985248" y="502920"/>
            <a:ext cx="54864" cy="54864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9985248" y="795528"/>
            <a:ext cx="54864" cy="54864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9985248" y="1088136"/>
            <a:ext cx="54864" cy="54864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10277856" y="502920"/>
            <a:ext cx="54864" cy="54864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10277856" y="795528"/>
            <a:ext cx="54864" cy="54864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10277856" y="1088136"/>
            <a:ext cx="54864" cy="54864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10570464" y="502920"/>
            <a:ext cx="54864" cy="54864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10570464" y="795528"/>
            <a:ext cx="54864" cy="54864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10570464" y="1088136"/>
            <a:ext cx="54864" cy="54864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10863072" y="502920"/>
            <a:ext cx="54864" cy="54864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10863072" y="795528"/>
            <a:ext cx="54864" cy="54864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10863072" y="1088136"/>
            <a:ext cx="54864" cy="54864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 txBox="1"/>
          <p:nvPr/>
        </p:nvSpPr>
        <p:spPr>
          <a:xfrm>
            <a:off x="822960" y="14173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A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8A9"/>
                </a:solidFill>
                <a:latin typeface="Calibri"/>
                <a:ea typeface="Calibri"/>
                <a:cs typeface="Calibri"/>
                <a:sym typeface="Calibri"/>
              </a:rPr>
              <a:t>PROYECTO APT  ·  FASE 1 — DEFINICIÓN DEL PROYECTO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 txBox="1"/>
          <p:nvPr/>
        </p:nvSpPr>
        <p:spPr>
          <a:xfrm>
            <a:off x="777240" y="1828800"/>
            <a:ext cx="84124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mbria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Duco Asiste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 txBox="1"/>
          <p:nvPr/>
        </p:nvSpPr>
        <p:spPr>
          <a:xfrm>
            <a:off x="822960" y="306324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F2FA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EDF2FA"/>
                </a:solidFill>
                <a:latin typeface="Calibri"/>
                <a:ea typeface="Calibri"/>
                <a:cs typeface="Calibri"/>
                <a:sym typeface="Calibri"/>
              </a:rPr>
              <a:t>Asistente digital para el sitio web de Duoc UC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" name="Google Shape;34;p1"/>
          <p:cNvCxnSpPr/>
          <p:nvPr/>
        </p:nvCxnSpPr>
        <p:spPr>
          <a:xfrm>
            <a:off x="822960" y="3977640"/>
            <a:ext cx="2926080" cy="0"/>
          </a:xfrm>
          <a:prstGeom prst="straightConnector1">
            <a:avLst/>
          </a:prstGeom>
          <a:noFill/>
          <a:ln cap="flat" cmpd="sng" w="25400">
            <a:solidFill>
              <a:srgbClr val="00B8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1"/>
          <p:cNvSpPr txBox="1"/>
          <p:nvPr/>
        </p:nvSpPr>
        <p:spPr>
          <a:xfrm>
            <a:off x="822960" y="41605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Elías Cornejo   ·   Matías Peredo   ·   Nicolás Huenchuñir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 txBox="1"/>
          <p:nvPr/>
        </p:nvSpPr>
        <p:spPr>
          <a:xfrm>
            <a:off x="822960" y="45262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BB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C9BBF"/>
                </a:solidFill>
                <a:latin typeface="Calibri"/>
                <a:ea typeface="Calibri"/>
                <a:cs typeface="Calibri"/>
                <a:sym typeface="Calibri"/>
              </a:rPr>
              <a:t>Ingeniería en Informática  —  Sede Puente Alto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9646920" y="5074920"/>
            <a:ext cx="1417320" cy="1417320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MessageCircle.png" id="38" name="Google Shape;3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1250" y="5429250"/>
            <a:ext cx="708660" cy="708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"/>
          <p:cNvSpPr txBox="1"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El problema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640080" y="10972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Por qué el sitio web de Duoc UC necesita un asistente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40080" y="1965960"/>
            <a:ext cx="10881360" cy="1188720"/>
          </a:xfrm>
          <a:prstGeom prst="roundRect">
            <a:avLst>
              <a:gd fmla="val 7692" name="adj"/>
            </a:avLst>
          </a:prstGeom>
          <a:solidFill>
            <a:srgbClr val="F5F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960120" y="2194560"/>
            <a:ext cx="731520" cy="731520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Compass.png" id="48" name="Google Shape;4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685" y="237012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"/>
          <p:cNvSpPr txBox="1"/>
          <p:nvPr/>
        </p:nvSpPr>
        <p:spPr>
          <a:xfrm>
            <a:off x="2057400" y="2084832"/>
            <a:ext cx="9052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Navegación difícil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2057400" y="2423160"/>
            <a:ext cx="9052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El sitio de Duoc UC concentra mucha información y opciones, lo que dificulta encontrar lo que se busca de forma rápida.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40080" y="3383280"/>
            <a:ext cx="10881360" cy="1188720"/>
          </a:xfrm>
          <a:prstGeom prst="roundRect">
            <a:avLst>
              <a:gd fmla="val 7692" name="adj"/>
            </a:avLst>
          </a:prstGeom>
          <a:solidFill>
            <a:srgbClr val="F5F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960120" y="3611880"/>
            <a:ext cx="731520" cy="731520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Users.png" id="53" name="Google Shape;5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5685" y="378744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/>
        </p:nvSpPr>
        <p:spPr>
          <a:xfrm>
            <a:off x="2057400" y="3502152"/>
            <a:ext cx="9052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 quién afecta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 txBox="1"/>
          <p:nvPr/>
        </p:nvSpPr>
        <p:spPr>
          <a:xfrm>
            <a:off x="2057400" y="3840480"/>
            <a:ext cx="9052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Principalmente a estudiantes y demás usuarios que necesitan ubicar información académica, trámites y servicios.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40080" y="4800600"/>
            <a:ext cx="10881360" cy="1188720"/>
          </a:xfrm>
          <a:prstGeom prst="roundRect">
            <a:avLst>
              <a:gd fmla="val 7692" name="adj"/>
            </a:avLst>
          </a:prstGeom>
          <a:solidFill>
            <a:srgbClr val="F5F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960120" y="5029200"/>
            <a:ext cx="731520" cy="731520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Globe.png" id="58" name="Google Shape;5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5685" y="5204765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"/>
          <p:cNvSpPr txBox="1"/>
          <p:nvPr/>
        </p:nvSpPr>
        <p:spPr>
          <a:xfrm>
            <a:off x="2057400" y="4919472"/>
            <a:ext cx="9052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Dónde ocurre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2057400" y="5257800"/>
            <a:ext cx="9052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En el sitio web de Duoc UC, la principal vía de acceso a información académica, trámites y servicios.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9281160" y="2331720"/>
            <a:ext cx="1828800" cy="1828800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MessageCircle.png" id="68" name="Google Shape;6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56648" y="2807208"/>
            <a:ext cx="877824" cy="877824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"/>
          <p:cNvSpPr txBox="1"/>
          <p:nvPr/>
        </p:nvSpPr>
        <p:spPr>
          <a:xfrm>
            <a:off x="8458200" y="4434840"/>
            <a:ext cx="34290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DF2FA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EDF2FA"/>
                </a:solidFill>
                <a:latin typeface="Calibri"/>
                <a:ea typeface="Calibri"/>
                <a:cs typeface="Calibri"/>
                <a:sym typeface="Calibri"/>
              </a:rPr>
              <a:t>Centraliza la búsqueda de información y guía al usuario directamente hacia lo que necesita.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 txBox="1"/>
          <p:nvPr/>
        </p:nvSpPr>
        <p:spPr>
          <a:xfrm>
            <a:off x="640080" y="54864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¿Qué es Duco Asiste?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640080" y="1508760"/>
            <a:ext cx="71323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Un asistente basado en inteligencia artificial que ayuda a los usuarios del sitio de Duoc UC a encontrar información de forma más rápida y sencilla.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640080" y="27432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8E8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18E82"/>
                </a:solidFill>
                <a:latin typeface="Calibri"/>
                <a:ea typeface="Calibri"/>
                <a:cs typeface="Calibri"/>
                <a:sym typeface="Calibri"/>
              </a:rPr>
              <a:t>¿En qué consiste?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640080" y="3108960"/>
            <a:ext cx="70408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Recibe consultas, comprende lo que el usuario busca, entrega respuestas o lo redirige a la sección correspondiente y, cuando es necesario, resalta visualmente los elementos relevantes dentro del sitio.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 txBox="1"/>
          <p:nvPr/>
        </p:nvSpPr>
        <p:spPr>
          <a:xfrm>
            <a:off x="640080" y="46177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8E8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18E82"/>
                </a:solidFill>
                <a:latin typeface="Calibri"/>
                <a:ea typeface="Calibri"/>
                <a:cs typeface="Calibri"/>
                <a:sym typeface="Calibri"/>
              </a:rPr>
              <a:t>Aporte de valor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 txBox="1"/>
          <p:nvPr/>
        </p:nvSpPr>
        <p:spPr>
          <a:xfrm>
            <a:off x="640080" y="4983480"/>
            <a:ext cx="7040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Facilita la navegación, reduce el tiempo de búsqueda y mejora la experiencia de los usuarios al interactuar con el sitio.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¿Cómo funciona?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 txBox="1"/>
          <p:nvPr/>
        </p:nvSpPr>
        <p:spPr>
          <a:xfrm>
            <a:off x="640080" y="109728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Centralizando la búsqueda de información y guiando al usuario hacia el contenido que necesita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640080" y="2468880"/>
            <a:ext cx="2468880" cy="3108960"/>
          </a:xfrm>
          <a:prstGeom prst="roundRect">
            <a:avLst>
              <a:gd fmla="val 4444" name="adj"/>
            </a:avLst>
          </a:prstGeom>
          <a:solidFill>
            <a:srgbClr val="F5F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1417320" y="2834640"/>
            <a:ext cx="914400" cy="914400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Inbox.png" id="85" name="Google Shape;8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6776" y="3054096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4"/>
          <p:cNvSpPr txBox="1"/>
          <p:nvPr/>
        </p:nvSpPr>
        <p:spPr>
          <a:xfrm>
            <a:off x="777240" y="26060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777240" y="397764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Recibe la consulta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822960" y="452628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El usuario escribe su pregunta o lo que necesita encontrar.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3090672" y="3886200"/>
            <a:ext cx="265176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3337560" y="2468880"/>
            <a:ext cx="2468880" cy="3108960"/>
          </a:xfrm>
          <a:prstGeom prst="roundRect">
            <a:avLst>
              <a:gd fmla="val 4444" name="adj"/>
            </a:avLst>
          </a:prstGeom>
          <a:solidFill>
            <a:srgbClr val="F5F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4114800" y="2834640"/>
            <a:ext cx="914400" cy="914400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Cpu.png" id="92" name="Google Shape;9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4256" y="3054096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"/>
          <p:cNvSpPr txBox="1"/>
          <p:nvPr/>
        </p:nvSpPr>
        <p:spPr>
          <a:xfrm>
            <a:off x="3474720" y="26060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3474720" y="397764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Comprende con 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3520440" y="452628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Interpreta la intención detrás de la consulta.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788152" y="3886200"/>
            <a:ext cx="265176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6035040" y="2468880"/>
            <a:ext cx="2468880" cy="3108960"/>
          </a:xfrm>
          <a:prstGeom prst="roundRect">
            <a:avLst>
              <a:gd fmla="val 4444" name="adj"/>
            </a:avLst>
          </a:prstGeom>
          <a:solidFill>
            <a:srgbClr val="F5F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6812280" y="2834640"/>
            <a:ext cx="914400" cy="914400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ArrowRightCircle.png" id="99" name="Google Shape;9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31736" y="3054096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4"/>
          <p:cNvSpPr txBox="1"/>
          <p:nvPr/>
        </p:nvSpPr>
        <p:spPr>
          <a:xfrm>
            <a:off x="6172200" y="26060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 txBox="1"/>
          <p:nvPr/>
        </p:nvSpPr>
        <p:spPr>
          <a:xfrm>
            <a:off x="6172200" y="397764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Responde o redirige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 txBox="1"/>
          <p:nvPr/>
        </p:nvSpPr>
        <p:spPr>
          <a:xfrm>
            <a:off x="6217920" y="452628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Entrega una respuesta o lleva al usuario a la sección correcta.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8485632" y="3886200"/>
            <a:ext cx="265176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8732520" y="2468880"/>
            <a:ext cx="2468880" cy="3108960"/>
          </a:xfrm>
          <a:prstGeom prst="roundRect">
            <a:avLst>
              <a:gd fmla="val 4444" name="adj"/>
            </a:avLst>
          </a:prstGeom>
          <a:solidFill>
            <a:srgbClr val="F5F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9509760" y="2834640"/>
            <a:ext cx="914400" cy="914400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Zap.png" id="106" name="Google Shape;10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29216" y="3054096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"/>
          <p:cNvSpPr txBox="1"/>
          <p:nvPr/>
        </p:nvSpPr>
        <p:spPr>
          <a:xfrm>
            <a:off x="8869680" y="26060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 txBox="1"/>
          <p:nvPr/>
        </p:nvSpPr>
        <p:spPr>
          <a:xfrm>
            <a:off x="8869680" y="397764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Resalta lo relevante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8915400" y="452628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Destaca visualmente botones, enlaces o secciones clave.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/>
          <p:nvPr/>
        </p:nvSpPr>
        <p:spPr>
          <a:xfrm>
            <a:off x="822960" y="777240"/>
            <a:ext cx="868680" cy="868680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Target.png" id="116" name="Google Shape;11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130" y="99441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874520" y="987552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8A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B8A9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822960" y="2148840"/>
            <a:ext cx="10515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Desarrollar un asistente basado en inteligencia artificial que facilite la navegación del sitio web de Duoc UC, permitiendo responder consultas y orientar a los usuarios hacia la información que necesitan.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5"/>
          <p:cNvCxnSpPr/>
          <p:nvPr/>
        </p:nvCxnSpPr>
        <p:spPr>
          <a:xfrm>
            <a:off x="822960" y="5989320"/>
            <a:ext cx="2194560" cy="0"/>
          </a:xfrm>
          <a:prstGeom prst="straightConnector1">
            <a:avLst/>
          </a:prstGeom>
          <a:noFill/>
          <a:ln cap="flat" cmpd="sng" w="25400">
            <a:solidFill>
              <a:srgbClr val="00B8A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Objetivos específicos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640080" y="1581912"/>
            <a:ext cx="548640" cy="548640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CheckSquare.png" id="127" name="Google Shape;12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" y="1705356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6"/>
          <p:cNvSpPr txBox="1"/>
          <p:nvPr/>
        </p:nvSpPr>
        <p:spPr>
          <a:xfrm>
            <a:off x="1463040" y="150876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Identificar las principales dificultades que presentan los usuarios al buscar información en el sitio web de Duoc UC.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640080" y="2633472"/>
            <a:ext cx="548640" cy="548640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CheckSquare.png" id="130" name="Google Shape;13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" y="2756916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6"/>
          <p:cNvSpPr txBox="1"/>
          <p:nvPr/>
        </p:nvSpPr>
        <p:spPr>
          <a:xfrm>
            <a:off x="1463040" y="256032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Diseñar la estructura y funcionamiento del asistente IA.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640080" y="3685032"/>
            <a:ext cx="548640" cy="548640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CheckSquare.png" id="133" name="Google Shape;1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" y="3808476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6"/>
          <p:cNvSpPr txBox="1"/>
          <p:nvPr/>
        </p:nvSpPr>
        <p:spPr>
          <a:xfrm>
            <a:off x="1463040" y="361188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Implementar un sistema capaz de interpretar consultas y entregar respuestas o redirigir al usuario.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640080" y="4736592"/>
            <a:ext cx="548640" cy="548640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CheckSquare.png" id="136" name="Google Shape;13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" y="4860036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"/>
          <p:cNvSpPr txBox="1"/>
          <p:nvPr/>
        </p:nvSpPr>
        <p:spPr>
          <a:xfrm>
            <a:off x="1463040" y="466344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Incorporar un mecanismo para resaltar visualmente elementos relevantes dentro del sitio.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640080" y="5788152"/>
            <a:ext cx="548640" cy="548640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CheckSquare.png" id="139" name="Google Shape;1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24" y="5911596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 txBox="1"/>
          <p:nvPr/>
        </p:nvSpPr>
        <p:spPr>
          <a:xfrm>
            <a:off x="1463040" y="571500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Realizar pruebas para evaluar el funcionamiento y la utilidad del asistente.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 txBox="1"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Funcionalidades principales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Metodología Scrum — funcionalidades desarrolladas por sprint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40080" y="1645920"/>
            <a:ext cx="2606040" cy="2148840"/>
          </a:xfrm>
          <a:prstGeom prst="roundRect">
            <a:avLst>
              <a:gd fmla="val 4255" name="adj"/>
            </a:avLst>
          </a:prstGeom>
          <a:solidFill>
            <a:srgbClr val="F5F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877824" y="1901952"/>
            <a:ext cx="640080" cy="640080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Inbox.png" id="150" name="Google Shape;15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1443" y="2055571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 txBox="1"/>
          <p:nvPr/>
        </p:nvSpPr>
        <p:spPr>
          <a:xfrm>
            <a:off x="841248" y="2788920"/>
            <a:ext cx="220370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Recepción de consultas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3392424" y="1645920"/>
            <a:ext cx="2606040" cy="2148840"/>
          </a:xfrm>
          <a:prstGeom prst="roundRect">
            <a:avLst>
              <a:gd fmla="val 4255" name="adj"/>
            </a:avLst>
          </a:prstGeom>
          <a:solidFill>
            <a:srgbClr val="F5F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3630168" y="1901952"/>
            <a:ext cx="640080" cy="640080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Cpu.png" id="154" name="Google Shape;15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83787" y="2055571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7"/>
          <p:cNvSpPr txBox="1"/>
          <p:nvPr/>
        </p:nvSpPr>
        <p:spPr>
          <a:xfrm>
            <a:off x="3593592" y="2788920"/>
            <a:ext cx="220370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Comprensión mediante IA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6144768" y="1645920"/>
            <a:ext cx="2606040" cy="2148840"/>
          </a:xfrm>
          <a:prstGeom prst="roundRect">
            <a:avLst>
              <a:gd fmla="val 4255" name="adj"/>
            </a:avLst>
          </a:prstGeom>
          <a:solidFill>
            <a:srgbClr val="F5F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6382512" y="1901952"/>
            <a:ext cx="640080" cy="640080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MessageSquare.png" id="158" name="Google Shape;15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36131" y="2055571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7"/>
          <p:cNvSpPr txBox="1"/>
          <p:nvPr/>
        </p:nvSpPr>
        <p:spPr>
          <a:xfrm>
            <a:off x="6345936" y="2788920"/>
            <a:ext cx="220370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Generación de respuestas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8897112" y="1645920"/>
            <a:ext cx="2606040" cy="2148840"/>
          </a:xfrm>
          <a:prstGeom prst="roundRect">
            <a:avLst>
              <a:gd fmla="val 4255" name="adj"/>
            </a:avLst>
          </a:prstGeom>
          <a:solidFill>
            <a:srgbClr val="F5F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9134856" y="1901952"/>
            <a:ext cx="640080" cy="640080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Search.png" id="162" name="Google Shape;16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88475" y="2055571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7"/>
          <p:cNvSpPr txBox="1"/>
          <p:nvPr/>
        </p:nvSpPr>
        <p:spPr>
          <a:xfrm>
            <a:off x="9098280" y="2788920"/>
            <a:ext cx="220370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Búsqueda y redirección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2016252" y="4069080"/>
            <a:ext cx="2606040" cy="2148840"/>
          </a:xfrm>
          <a:prstGeom prst="roundRect">
            <a:avLst>
              <a:gd fmla="val 4255" name="adj"/>
            </a:avLst>
          </a:prstGeom>
          <a:solidFill>
            <a:srgbClr val="F5F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2253996" y="4325112"/>
            <a:ext cx="640080" cy="640080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Zap.png" id="166" name="Google Shape;166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07615" y="4478731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7"/>
          <p:cNvSpPr txBox="1"/>
          <p:nvPr/>
        </p:nvSpPr>
        <p:spPr>
          <a:xfrm>
            <a:off x="2217420" y="5212080"/>
            <a:ext cx="220370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Resaltado visual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4768596" y="4069080"/>
            <a:ext cx="2606040" cy="2148840"/>
          </a:xfrm>
          <a:prstGeom prst="roundRect">
            <a:avLst>
              <a:gd fmla="val 4255" name="adj"/>
            </a:avLst>
          </a:prstGeom>
          <a:solidFill>
            <a:srgbClr val="F5F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5006340" y="4325112"/>
            <a:ext cx="640080" cy="640080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HelpCircle.png" id="170" name="Google Shape;170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59959" y="4478731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7"/>
          <p:cNvSpPr txBox="1"/>
          <p:nvPr/>
        </p:nvSpPr>
        <p:spPr>
          <a:xfrm>
            <a:off x="4969764" y="5212080"/>
            <a:ext cx="220370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Consultas no reconocidas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7520940" y="4069080"/>
            <a:ext cx="2606040" cy="2148840"/>
          </a:xfrm>
          <a:prstGeom prst="roundRect">
            <a:avLst>
              <a:gd fmla="val 4255" name="adj"/>
            </a:avLst>
          </a:prstGeom>
          <a:solidFill>
            <a:srgbClr val="F5F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7758684" y="4325112"/>
            <a:ext cx="640080" cy="640080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Monitor.png" id="174" name="Google Shape;174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12303" y="4478731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7"/>
          <p:cNvSpPr txBox="1"/>
          <p:nvPr/>
        </p:nvSpPr>
        <p:spPr>
          <a:xfrm>
            <a:off x="7722108" y="5212080"/>
            <a:ext cx="2203704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Interfaz de interacción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"/>
          <p:cNvSpPr txBox="1"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Metodología: Scrum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 txBox="1"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Trabajo incremental mediante Sprints, con tareas de análisis, diseño, desarrollo y pruebas del asistente IA.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6907573" y="2387303"/>
            <a:ext cx="960120" cy="960120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Clipboard.png" id="184" name="Google Shape;18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7204" y="2636934"/>
            <a:ext cx="460858" cy="460858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8"/>
          <p:cNvSpPr txBox="1"/>
          <p:nvPr/>
        </p:nvSpPr>
        <p:spPr>
          <a:xfrm>
            <a:off x="8050573" y="2410163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Planificar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 txBox="1"/>
          <p:nvPr/>
        </p:nvSpPr>
        <p:spPr>
          <a:xfrm>
            <a:off x="8050573" y="2757635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Se organizan las tareas del sprint.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6907573" y="4973617"/>
            <a:ext cx="960120" cy="960120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Code.png" id="188" name="Google Shape;18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7204" y="5223248"/>
            <a:ext cx="460858" cy="460858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8"/>
          <p:cNvSpPr txBox="1"/>
          <p:nvPr/>
        </p:nvSpPr>
        <p:spPr>
          <a:xfrm>
            <a:off x="8050573" y="4996477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Desarrollar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 txBox="1"/>
          <p:nvPr/>
        </p:nvSpPr>
        <p:spPr>
          <a:xfrm>
            <a:off x="8050573" y="5343949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Se construyen las funcionalidades definidas.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4321259" y="4973617"/>
            <a:ext cx="960120" cy="960120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CheckCircle.png" id="192" name="Google Shape;19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0890" y="5223248"/>
            <a:ext cx="460858" cy="460858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8"/>
          <p:cNvSpPr txBox="1"/>
          <p:nvPr/>
        </p:nvSpPr>
        <p:spPr>
          <a:xfrm>
            <a:off x="1760939" y="4996477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Probar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 txBox="1"/>
          <p:nvPr/>
        </p:nvSpPr>
        <p:spPr>
          <a:xfrm>
            <a:off x="1760939" y="5343949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Se realizan pruebas para detectar errores.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4321259" y="2387303"/>
            <a:ext cx="960120" cy="960120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TrendingUp.png" id="196" name="Google Shape;196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0890" y="2636934"/>
            <a:ext cx="460858" cy="46085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8"/>
          <p:cNvSpPr txBox="1"/>
          <p:nvPr/>
        </p:nvSpPr>
        <p:spPr>
          <a:xfrm>
            <a:off x="1760939" y="2410163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Mejorar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1760939" y="2757635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Se aplican mejoras antes del siguiente ciclo.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4265676" y="2331720"/>
            <a:ext cx="3657600" cy="3657600"/>
          </a:xfrm>
          <a:prstGeom prst="ellipse">
            <a:avLst/>
          </a:prstGeom>
          <a:noFill/>
          <a:ln cap="flat" cmpd="sng" w="19050">
            <a:solidFill>
              <a:srgbClr val="C7D3E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5317236" y="3383280"/>
            <a:ext cx="1554480" cy="1554480"/>
          </a:xfrm>
          <a:prstGeom prst="ellipse">
            <a:avLst/>
          </a:prstGeom>
          <a:solidFill>
            <a:srgbClr val="EDF2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 txBox="1"/>
          <p:nvPr/>
        </p:nvSpPr>
        <p:spPr>
          <a:xfrm>
            <a:off x="5317236" y="390448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8E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18E82"/>
                </a:solidFill>
                <a:latin typeface="Calibri"/>
                <a:ea typeface="Calibri"/>
                <a:cs typeface="Calibri"/>
                <a:sym typeface="Calibri"/>
              </a:rPr>
              <a:t>SPRINT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 txBox="1"/>
          <p:nvPr/>
        </p:nvSpPr>
        <p:spPr>
          <a:xfrm>
            <a:off x="5317236" y="417880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Ciclo repetido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"/>
          <p:cNvSpPr txBox="1"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Equipo y responsabilidades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640080" y="1691640"/>
            <a:ext cx="3429000" cy="4023360"/>
          </a:xfrm>
          <a:prstGeom prst="roundRect">
            <a:avLst>
              <a:gd fmla="val 3200" name="adj"/>
            </a:avLst>
          </a:prstGeom>
          <a:solidFill>
            <a:srgbClr val="F5F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1760220" y="2148840"/>
            <a:ext cx="1188720" cy="11887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 txBox="1"/>
          <p:nvPr/>
        </p:nvSpPr>
        <p:spPr>
          <a:xfrm>
            <a:off x="1760220" y="2148840"/>
            <a:ext cx="1188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8A9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0B8A9"/>
                </a:solidFill>
                <a:latin typeface="Cambria"/>
                <a:ea typeface="Cambria"/>
                <a:cs typeface="Cambria"/>
                <a:sym typeface="Cambria"/>
              </a:rPr>
              <a:t>EC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 txBox="1"/>
          <p:nvPr/>
        </p:nvSpPr>
        <p:spPr>
          <a:xfrm>
            <a:off x="822960" y="356616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Elías Cornejo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9"/>
          <p:cNvCxnSpPr/>
          <p:nvPr/>
        </p:nvCxnSpPr>
        <p:spPr>
          <a:xfrm>
            <a:off x="1897380" y="4069080"/>
            <a:ext cx="914400" cy="0"/>
          </a:xfrm>
          <a:prstGeom prst="straightConnector1">
            <a:avLst/>
          </a:prstGeom>
          <a:noFill/>
          <a:ln cap="flat" cmpd="sng" w="19050">
            <a:solidFill>
              <a:srgbClr val="00B8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9"/>
          <p:cNvSpPr txBox="1"/>
          <p:nvPr/>
        </p:nvSpPr>
        <p:spPr>
          <a:xfrm>
            <a:off x="914400" y="4297680"/>
            <a:ext cx="2880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Desarrollo del asistente IA, comprensión de consultas y lógica de respuestas.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4343400" y="1691640"/>
            <a:ext cx="3429000" cy="4023360"/>
          </a:xfrm>
          <a:prstGeom prst="roundRect">
            <a:avLst>
              <a:gd fmla="val 3200" name="adj"/>
            </a:avLst>
          </a:prstGeom>
          <a:solidFill>
            <a:srgbClr val="F5F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5463540" y="2148840"/>
            <a:ext cx="1188720" cy="11887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 txBox="1"/>
          <p:nvPr/>
        </p:nvSpPr>
        <p:spPr>
          <a:xfrm>
            <a:off x="5463540" y="2148840"/>
            <a:ext cx="1188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8A9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0B8A9"/>
                </a:solidFill>
                <a:latin typeface="Cambria"/>
                <a:ea typeface="Cambria"/>
                <a:cs typeface="Cambria"/>
                <a:sym typeface="Cambria"/>
              </a:rPr>
              <a:t>MP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 txBox="1"/>
          <p:nvPr/>
        </p:nvSpPr>
        <p:spPr>
          <a:xfrm>
            <a:off x="4526280" y="356616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Matías Peredo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9"/>
          <p:cNvCxnSpPr/>
          <p:nvPr/>
        </p:nvCxnSpPr>
        <p:spPr>
          <a:xfrm>
            <a:off x="5600700" y="4069080"/>
            <a:ext cx="914400" cy="0"/>
          </a:xfrm>
          <a:prstGeom prst="straightConnector1">
            <a:avLst/>
          </a:prstGeom>
          <a:noFill/>
          <a:ln cap="flat" cmpd="sng" w="19050">
            <a:solidFill>
              <a:srgbClr val="00B8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p9"/>
          <p:cNvSpPr txBox="1"/>
          <p:nvPr/>
        </p:nvSpPr>
        <p:spPr>
          <a:xfrm>
            <a:off x="4617720" y="4297680"/>
            <a:ext cx="2880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Desarrollo de la interfaz y del sistema de búsqueda y redirección dentro del sitio.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8046720" y="1691640"/>
            <a:ext cx="3429000" cy="4023360"/>
          </a:xfrm>
          <a:prstGeom prst="roundRect">
            <a:avLst>
              <a:gd fmla="val 3200" name="adj"/>
            </a:avLst>
          </a:prstGeom>
          <a:solidFill>
            <a:srgbClr val="F5F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9166860" y="2148840"/>
            <a:ext cx="1188720" cy="11887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 txBox="1"/>
          <p:nvPr/>
        </p:nvSpPr>
        <p:spPr>
          <a:xfrm>
            <a:off x="9166860" y="2148840"/>
            <a:ext cx="1188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8A9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0B8A9"/>
                </a:solidFill>
                <a:latin typeface="Cambria"/>
                <a:ea typeface="Cambria"/>
                <a:cs typeface="Cambria"/>
                <a:sym typeface="Cambria"/>
              </a:rPr>
              <a:t>NH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 txBox="1"/>
          <p:nvPr/>
        </p:nvSpPr>
        <p:spPr>
          <a:xfrm>
            <a:off x="8229600" y="356616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Nicolás Huenchuñir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" name="Google Shape;225;p9"/>
          <p:cNvCxnSpPr/>
          <p:nvPr/>
        </p:nvCxnSpPr>
        <p:spPr>
          <a:xfrm>
            <a:off x="9304020" y="4069080"/>
            <a:ext cx="914400" cy="0"/>
          </a:xfrm>
          <a:prstGeom prst="straightConnector1">
            <a:avLst/>
          </a:prstGeom>
          <a:noFill/>
          <a:ln cap="flat" cmpd="sng" w="19050">
            <a:solidFill>
              <a:srgbClr val="00B8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9"/>
          <p:cNvSpPr txBox="1"/>
          <p:nvPr/>
        </p:nvSpPr>
        <p:spPr>
          <a:xfrm>
            <a:off x="8321040" y="4297680"/>
            <a:ext cx="2880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Pruebas, validación, documentación y apoyo en la integración de funcionalidades.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"/>
          <p:cNvSpPr txBox="1"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Factibilidad del proyecto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640080" y="1417320"/>
            <a:ext cx="5257800" cy="2057400"/>
          </a:xfrm>
          <a:prstGeom prst="roundRect">
            <a:avLst>
              <a:gd fmla="val 4444" name="adj"/>
            </a:avLst>
          </a:prstGeom>
          <a:solidFill>
            <a:srgbClr val="F5F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914400" y="1691640"/>
            <a:ext cx="685800" cy="685800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Calendar.png" id="235" name="Google Shape;23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992" y="185623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0"/>
          <p:cNvSpPr txBox="1"/>
          <p:nvPr/>
        </p:nvSpPr>
        <p:spPr>
          <a:xfrm>
            <a:off x="1783080" y="1709928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Duración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 txBox="1"/>
          <p:nvPr/>
        </p:nvSpPr>
        <p:spPr>
          <a:xfrm>
            <a:off x="1783080" y="2103120"/>
            <a:ext cx="38862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Se desarrolla durante el semestre, dividiendo el trabajo en análisis, diseño, desarrollo y pruebas.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6217920" y="1417320"/>
            <a:ext cx="5257800" cy="2057400"/>
          </a:xfrm>
          <a:prstGeom prst="roundRect">
            <a:avLst>
              <a:gd fmla="val 4444" name="adj"/>
            </a:avLst>
          </a:prstGeom>
          <a:solidFill>
            <a:srgbClr val="F5F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6492240" y="1691640"/>
            <a:ext cx="685800" cy="685800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Tool.png" id="240" name="Google Shape;24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6832" y="185623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0"/>
          <p:cNvSpPr txBox="1"/>
          <p:nvPr/>
        </p:nvSpPr>
        <p:spPr>
          <a:xfrm>
            <a:off x="7360920" y="1709928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Materiales requeridos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 txBox="1"/>
          <p:nvPr/>
        </p:nvSpPr>
        <p:spPr>
          <a:xfrm>
            <a:off x="7360920" y="2103120"/>
            <a:ext cx="38862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Computador, herramientas de programación, acceso a servicios de IA y el sitio web de Duoc UC para pruebas.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640080" y="3749040"/>
            <a:ext cx="5257800" cy="2057400"/>
          </a:xfrm>
          <a:prstGeom prst="roundRect">
            <a:avLst>
              <a:gd fmla="val 4444" name="adj"/>
            </a:avLst>
          </a:prstGeom>
          <a:solidFill>
            <a:srgbClr val="F5F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914400" y="4023360"/>
            <a:ext cx="685800" cy="685800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ThumbsUp.png" id="245" name="Google Shape;24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8992" y="418795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0"/>
          <p:cNvSpPr txBox="1"/>
          <p:nvPr/>
        </p:nvSpPr>
        <p:spPr>
          <a:xfrm>
            <a:off x="1783080" y="4041648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Factores a favor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 txBox="1"/>
          <p:nvPr/>
        </p:nvSpPr>
        <p:spPr>
          <a:xfrm>
            <a:off x="1783080" y="4434840"/>
            <a:ext cx="38862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Disponibilidad de herramientas de desarrollo e IA, y acceso a recursos de Duoc UC.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6217920" y="3749040"/>
            <a:ext cx="5257800" cy="2057400"/>
          </a:xfrm>
          <a:prstGeom prst="roundRect">
            <a:avLst>
              <a:gd fmla="val 4444" name="adj"/>
            </a:avLst>
          </a:prstGeom>
          <a:solidFill>
            <a:srgbClr val="F5F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6492240" y="4023360"/>
            <a:ext cx="685800" cy="685800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AlertCircle.png" id="250" name="Google Shape;250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56832" y="418795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0"/>
          <p:cNvSpPr txBox="1"/>
          <p:nvPr/>
        </p:nvSpPr>
        <p:spPr>
          <a:xfrm>
            <a:off x="7360920" y="4041648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Factores en contra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 txBox="1"/>
          <p:nvPr/>
        </p:nvSpPr>
        <p:spPr>
          <a:xfrm>
            <a:off x="7360920" y="4434840"/>
            <a:ext cx="38862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8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B6B85"/>
                </a:solidFill>
                <a:latin typeface="Calibri"/>
                <a:ea typeface="Calibri"/>
                <a:cs typeface="Calibri"/>
                <a:sym typeface="Calibri"/>
              </a:rPr>
              <a:t>Acceso limitado al sitio o restricciones de uso; se puede trabajar con un prototipo independiente.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"/>
          <p:cNvSpPr/>
          <p:nvPr/>
        </p:nvSpPr>
        <p:spPr>
          <a:xfrm>
            <a:off x="640080" y="502920"/>
            <a:ext cx="54864" cy="54864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640080" y="795528"/>
            <a:ext cx="54864" cy="54864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640080" y="1088136"/>
            <a:ext cx="54864" cy="54864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932688" y="502920"/>
            <a:ext cx="54864" cy="54864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932688" y="795528"/>
            <a:ext cx="54864" cy="54864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932688" y="1088136"/>
            <a:ext cx="54864" cy="54864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1225296" y="502920"/>
            <a:ext cx="54864" cy="54864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1225296" y="795528"/>
            <a:ext cx="54864" cy="54864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1225296" y="1088136"/>
            <a:ext cx="54864" cy="54864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1517904" y="502920"/>
            <a:ext cx="54864" cy="54864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1517904" y="795528"/>
            <a:ext cx="54864" cy="54864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1517904" y="1088136"/>
            <a:ext cx="54864" cy="54864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1810512" y="502920"/>
            <a:ext cx="54864" cy="54864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1810512" y="795528"/>
            <a:ext cx="54864" cy="54864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1810512" y="1088136"/>
            <a:ext cx="54864" cy="54864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1"/>
          <p:cNvSpPr/>
          <p:nvPr/>
        </p:nvSpPr>
        <p:spPr>
          <a:xfrm>
            <a:off x="5408676" y="1371600"/>
            <a:ext cx="1371600" cy="1371600"/>
          </a:xfrm>
          <a:prstGeom prst="ellipse">
            <a:avLst/>
          </a:prstGeom>
          <a:solidFill>
            <a:srgbClr val="00B8A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FiMessageCircle.png" id="274" name="Google Shape;27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51576" y="171450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1"/>
          <p:cNvSpPr txBox="1"/>
          <p:nvPr/>
        </p:nvSpPr>
        <p:spPr>
          <a:xfrm>
            <a:off x="0" y="2971800"/>
            <a:ext cx="121889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Gracias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 txBox="1"/>
          <p:nvPr/>
        </p:nvSpPr>
        <p:spPr>
          <a:xfrm>
            <a:off x="1371600" y="3886200"/>
            <a:ext cx="9418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DF2F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DF2FA"/>
                </a:solidFill>
                <a:latin typeface="Calibri"/>
                <a:ea typeface="Calibri"/>
                <a:cs typeface="Calibri"/>
                <a:sym typeface="Calibri"/>
              </a:rPr>
              <a:t>Duco Asiste — facilitando la navegación del sitio de Duoc UC con inteligencia artificial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7" name="Google Shape;277;p11"/>
          <p:cNvCxnSpPr/>
          <p:nvPr/>
        </p:nvCxnSpPr>
        <p:spPr>
          <a:xfrm>
            <a:off x="5088636" y="4709160"/>
            <a:ext cx="2011680" cy="0"/>
          </a:xfrm>
          <a:prstGeom prst="straightConnector1">
            <a:avLst/>
          </a:prstGeom>
          <a:noFill/>
          <a:ln cap="flat" cmpd="sng" w="25400">
            <a:solidFill>
              <a:srgbClr val="00B8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" name="Google Shape;278;p11"/>
          <p:cNvSpPr txBox="1"/>
          <p:nvPr/>
        </p:nvSpPr>
        <p:spPr>
          <a:xfrm>
            <a:off x="1371600" y="4937760"/>
            <a:ext cx="9418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9BB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C9BBF"/>
                </a:solidFill>
                <a:latin typeface="Calibri"/>
                <a:ea typeface="Calibri"/>
                <a:cs typeface="Calibri"/>
                <a:sym typeface="Calibri"/>
              </a:rPr>
              <a:t>Elías Cornejo   ·   Matías Peredo   ·   Nicolás Huenchuñir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2026-09-10T02:32:18Z</dcterms:created>
  <dc:creator>PptxGenJS</dc:creator>
</cp:coreProperties>
</file>